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60" r:id="rId5"/>
    <p:sldId id="285" r:id="rId6"/>
    <p:sldId id="263" r:id="rId7"/>
    <p:sldId id="282" r:id="rId8"/>
    <p:sldId id="288" r:id="rId9"/>
    <p:sldId id="284" r:id="rId10"/>
    <p:sldId id="267" r:id="rId11"/>
    <p:sldId id="287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754E"/>
    <a:srgbClr val="333333"/>
    <a:srgbClr val="F8F4F0"/>
    <a:srgbClr val="D84361"/>
    <a:srgbClr val="EF3340"/>
    <a:srgbClr val="EB4F67"/>
    <a:srgbClr val="156082"/>
    <a:srgbClr val="660066"/>
    <a:srgbClr val="8E7146"/>
    <a:srgbClr val="F5C2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D7F9F7-5709-40B6-950B-CF09AFE0C887}" v="99" dt="2025-11-12T18:11:11.628"/>
    <p1510:client id="{C46E0F79-8749-4D4A-9F59-419D306048A5}" v="446" dt="2025-11-12T16:02:30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773"/>
  </p:normalViewPr>
  <p:slideViewPr>
    <p:cSldViewPr snapToGrid="0">
      <p:cViewPr>
        <p:scale>
          <a:sx n="70" d="100"/>
          <a:sy n="70" d="100"/>
        </p:scale>
        <p:origin x="648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74DD7-CAED-4B2A-A63E-90261376FB6B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EC574-B49B-497D-A2B2-94816DF80C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041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AEB98-2C7F-96DC-BEFE-2F5C5C485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BC2E8B-31E2-27EA-E77A-E7703F4F0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AF0627-FE17-D44A-47E4-B89E9FAA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39B3F9-4E83-18BC-2F19-F8F870DC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3804D1-3B86-96DD-C28A-98919AC5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5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5E6791-6CC4-50A9-4976-3A516033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8FE48B-3648-F03D-3BCB-AE1D84D55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C59535-B63D-87E8-4337-17780467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17894" y="6347759"/>
            <a:ext cx="2743200" cy="365125"/>
          </a:xfrm>
        </p:spPr>
        <p:txBody>
          <a:bodyPr/>
          <a:lstStyle/>
          <a:p>
            <a:fld id="{8ADC1CB2-BA97-47E0-8A28-034C0E408D31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35689C-8EB9-610A-A4A3-E7D1E77C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4410" y="6366436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57AF43A3-E9C3-4865-ACDD-48F1B3D14127}" type="slidenum">
              <a:rPr lang="de-DE" smtClean="0"/>
              <a:pPr algn="l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84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F0A3B-8A4B-E770-3ED4-37AEF7EA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07B43F-429C-D064-DF19-6010FAE93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2CA5F2-D1FF-F524-7211-CA464356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8AB20E-01EA-D575-E481-A09172D1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AE4114-EB71-6C86-1B0C-AFD5DBF1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21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19C81-300E-9B11-F7F3-9520AD1B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EEF33B-5E0B-918C-D8E9-DC7296CC9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43AB91-D77A-0E2C-D49A-0A993D2AE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F956CF-D21F-AC2C-AC3A-B6D3EF921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0E3C13-8F77-2E7E-A93E-C95B55F6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5BEEBC-7DBF-3B75-E476-A9DE1A28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985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008EF0-C640-D28F-B902-B1F8B02D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6415E2-2A52-67E3-234E-49EC0FFF4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D3434F-E65A-BCAF-C981-37B95403F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A5CBC7F-A76E-F8D1-164C-872AB9AFC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01C89D5-0BA4-88B6-EFE0-E4688858D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9837554-9C0B-C6C7-D71C-7146D8CA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5CD77-FF71-133C-85BA-925A21A0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1905A65-39A4-5504-2C73-6515FE1C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6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DF493C-DD23-231C-C5DD-8106FE5E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C52D396-BC3B-9A8C-DD4C-34CD9053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DA5284-3B9E-4086-64FE-C82D6EC2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998AF1-1ED4-18C3-1B49-FDF4EDBB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21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1C767A2-8985-EC73-A4B8-0CD7DCF5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7F34A9-A8CC-F30B-2FB0-1A57485A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3AFF0D-D5E6-ED66-1594-B3CDA710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71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4D5B83-CB4B-EF14-F9FA-2473846F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2E7674-937F-FCB3-7A2C-AD63B50A7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384317-ABD1-0574-277E-64213D92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B41908-83A0-7712-1AC0-BE1AF4A9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24DDD0-8396-7A2B-F31F-618D82154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63B3CE-542C-C1AF-95D0-C527A3D7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937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470E4-B8E0-777D-CC9E-DC1F8ED7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A845D9D-33DF-62E9-8C95-9D6FE721C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F8BE06-38E6-9422-4910-62FBD2771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511C6C-C491-0674-AB61-4AAB3885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DD396B-5FEF-B65A-2AE0-0A994919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261546-D0AF-F407-B8E2-045022EC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265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B45C7-3AB7-1AD4-3F80-6DB859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3C46153-7D8A-5D96-4F1D-EF77DFF87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EF97E4-709C-3970-3C8C-BEDA960E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7A53C2-D969-A1A3-598E-71BA1101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2E6A8C-1EAB-5523-0052-2C6687E5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62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AC35EC-AD83-5639-DF61-8589219B2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1761D9-93E5-CFAC-38A2-909116CB3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39E729-7958-BD43-7A66-C296E71A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749DDE-90F2-65F1-2CE7-559DAD119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2933AF-37E6-71EF-3B64-9BE28CE1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49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4DA384-EB20-4C1A-9CB3-EF68CE58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AAF0B7-760D-1378-4CE9-90989ACD9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189940-FE85-A17D-F107-C23990E95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C1CB2-BA97-47E0-8A28-034C0E408D31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6E1F46-FF15-8FE3-6299-1EB06963A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E18154-936E-AC7D-F5FD-1C1D68644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F43A3-E9C3-4865-ACDD-48F1B3D141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42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F1D1D-1618-51C2-1B02-5F80FF793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52B28C-972D-6E10-3FCF-CA71DBA84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08F6C7D-8308-63D2-6BC7-B503DB52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1" y="1061569"/>
            <a:ext cx="9405258" cy="431645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39572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C84F0-95C5-8FDD-5E8E-8678D561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8E7146"/>
                </a:solidFill>
                <a:latin typeface="Cormorant Garamond "/>
              </a:rPr>
              <a:t>Schriftarten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594470-E261-EC33-6203-72FE93E1B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latin typeface="Cormorant Garamond "/>
              </a:rPr>
              <a:t>Serif für Überschriften und Fließtext</a:t>
            </a:r>
          </a:p>
          <a:p>
            <a:pPr marL="457200" lvl="1" indent="0">
              <a:buNone/>
            </a:pPr>
            <a:r>
              <a:rPr lang="de-DE" b="1" dirty="0" err="1">
                <a:latin typeface="Cormorant Garamond "/>
              </a:rPr>
              <a:t>Cormorant</a:t>
            </a:r>
            <a:r>
              <a:rPr lang="de-DE" b="1" dirty="0">
                <a:latin typeface="Cormorant Garamond "/>
              </a:rPr>
              <a:t> Garamond</a:t>
            </a:r>
            <a:r>
              <a:rPr lang="de-DE" dirty="0">
                <a:latin typeface="Cormorant Garamond "/>
              </a:rPr>
              <a:t> </a:t>
            </a:r>
            <a:r>
              <a:rPr lang="de-DE" dirty="0"/>
              <a:t>– </a:t>
            </a:r>
            <a:r>
              <a:rPr lang="de-DE" dirty="0">
                <a:latin typeface="Cormorant Garamond "/>
              </a:rPr>
              <a:t>Klassisch, etwas poetischer, sehr lesefreundlich</a:t>
            </a:r>
          </a:p>
          <a:p>
            <a:pPr lvl="1"/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53A71D5-C03A-7841-340B-6D339DDE54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47"/>
          <a:stretch>
            <a:fillRect/>
          </a:stretch>
        </p:blipFill>
        <p:spPr>
          <a:xfrm>
            <a:off x="9386844" y="553875"/>
            <a:ext cx="1900281" cy="77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C59CA-482A-8BDF-BC66-5A4AC2B8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907349"/>
                </a:solidFill>
                <a:latin typeface="Cormorant Garamond "/>
              </a:rPr>
              <a:t>Basisfarben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647743-6CBF-3E1E-9852-AC2DF85A4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197099"/>
            <a:ext cx="4724400" cy="37465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 dirty="0">
                <a:latin typeface="Cormorant Garamond "/>
              </a:rPr>
              <a:t>Basisfarben (Core Colors)</a:t>
            </a:r>
          </a:p>
          <a:p>
            <a:r>
              <a:rPr lang="de-DE" b="1" dirty="0">
                <a:latin typeface="Cormorant Garamond "/>
              </a:rPr>
              <a:t>Herz-Rot (#D84361)</a:t>
            </a:r>
            <a:r>
              <a:rPr lang="de-DE" dirty="0">
                <a:latin typeface="Cormorant Garamond "/>
              </a:rPr>
              <a:t> – tief, warm, symbolisiert Liebe &amp; Dringlichkeit.</a:t>
            </a:r>
            <a:br>
              <a:rPr lang="de-DE" dirty="0">
                <a:latin typeface="Cormorant Garamond "/>
              </a:rPr>
            </a:br>
            <a:endParaRPr lang="de-DE" dirty="0">
              <a:latin typeface="Cormorant Garamond "/>
            </a:endParaRPr>
          </a:p>
          <a:p>
            <a:r>
              <a:rPr lang="de-DE" b="1" dirty="0">
                <a:latin typeface="Cormorant Garamond "/>
              </a:rPr>
              <a:t>Bären-Braun (#8D6F44)</a:t>
            </a:r>
            <a:r>
              <a:rPr lang="de-DE" dirty="0">
                <a:latin typeface="Cormorant Garamond "/>
              </a:rPr>
              <a:t> – erdig, Halt gebend, natürlicher Ton.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FD1B1A8-7C0E-11ED-2493-342C984C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47"/>
          <a:stretch>
            <a:fillRect/>
          </a:stretch>
        </p:blipFill>
        <p:spPr>
          <a:xfrm>
            <a:off x="9386844" y="553875"/>
            <a:ext cx="1900281" cy="779625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141CE44-A053-98BF-A136-C9515AF25E3E}"/>
              </a:ext>
            </a:extLst>
          </p:cNvPr>
          <p:cNvSpPr/>
          <p:nvPr/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B05BE41-B87B-B0DF-63CA-E4C62706176D}"/>
              </a:ext>
            </a:extLst>
          </p:cNvPr>
          <p:cNvSpPr/>
          <p:nvPr/>
        </p:nvSpPr>
        <p:spPr>
          <a:xfrm>
            <a:off x="6096000" y="4383631"/>
            <a:ext cx="1567543" cy="1325563"/>
          </a:xfrm>
          <a:prstGeom prst="ellipse">
            <a:avLst/>
          </a:prstGeom>
          <a:solidFill>
            <a:srgbClr val="8575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AA2BD9D-8FE1-B70A-CCAD-8E8105602BAF}"/>
              </a:ext>
            </a:extLst>
          </p:cNvPr>
          <p:cNvSpPr txBox="1"/>
          <p:nvPr/>
        </p:nvSpPr>
        <p:spPr>
          <a:xfrm>
            <a:off x="6312988" y="4829996"/>
            <a:ext cx="113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#85754E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C2AF339-3CBA-71B3-B36C-FF2207A7CC3C}"/>
              </a:ext>
            </a:extLst>
          </p:cNvPr>
          <p:cNvSpPr/>
          <p:nvPr/>
        </p:nvSpPr>
        <p:spPr>
          <a:xfrm>
            <a:off x="9450798" y="2334536"/>
            <a:ext cx="2480976" cy="2049095"/>
          </a:xfrm>
          <a:prstGeom prst="ellipse">
            <a:avLst/>
          </a:prstGeom>
          <a:solidFill>
            <a:srgbClr val="EB4F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#EF3340</a:t>
            </a:r>
            <a:br>
              <a:rPr lang="de-DE" dirty="0"/>
            </a:br>
            <a:r>
              <a:rPr lang="de-DE" dirty="0"/>
              <a:t>(als Schattierungen für CI)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001B20B-11C5-82A5-96EB-B126916A5C05}"/>
              </a:ext>
            </a:extLst>
          </p:cNvPr>
          <p:cNvSpPr/>
          <p:nvPr/>
        </p:nvSpPr>
        <p:spPr>
          <a:xfrm>
            <a:off x="6064068" y="2243774"/>
            <a:ext cx="1567543" cy="1438863"/>
          </a:xfrm>
          <a:prstGeom prst="ellipse">
            <a:avLst/>
          </a:prstGeom>
          <a:solidFill>
            <a:srgbClr val="D843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#D84361</a:t>
            </a:r>
          </a:p>
        </p:txBody>
      </p:sp>
    </p:spTree>
    <p:extLst>
      <p:ext uri="{BB962C8B-B14F-4D97-AF65-F5344CB8AC3E}">
        <p14:creationId xmlns:p14="http://schemas.microsoft.com/office/powerpoint/2010/main" val="317924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E0660-82F9-5DBA-84BA-958630A7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4A2476-DB5A-5177-2D98-D65208A3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907349"/>
                </a:solidFill>
                <a:latin typeface="Cormorant Garamond "/>
              </a:rPr>
              <a:t>Akzentfarben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0F20BA7-7078-DE48-BEB1-2C0B8C53C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47"/>
          <a:stretch>
            <a:fillRect/>
          </a:stretch>
        </p:blipFill>
        <p:spPr>
          <a:xfrm>
            <a:off x="9386844" y="553875"/>
            <a:ext cx="1900281" cy="779625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718E988-F8FC-C285-970F-383F37474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67600" cy="4351338"/>
          </a:xfrm>
        </p:spPr>
        <p:txBody>
          <a:bodyPr/>
          <a:lstStyle/>
          <a:p>
            <a:pPr marL="0" indent="0">
              <a:buNone/>
            </a:pPr>
            <a:r>
              <a:rPr lang="de-DE" b="1" dirty="0">
                <a:latin typeface="Cormorant Garamond "/>
              </a:rPr>
              <a:t>Akzentfarben (für Buttons, Highlights etc.)</a:t>
            </a:r>
          </a:p>
          <a:p>
            <a:pPr marL="0" indent="0">
              <a:buNone/>
            </a:pPr>
            <a:endParaRPr lang="de-DE" b="1" dirty="0">
              <a:latin typeface="Cormorant Garamond "/>
            </a:endParaRPr>
          </a:p>
          <a:p>
            <a:r>
              <a:rPr lang="de-DE" b="1" dirty="0">
                <a:latin typeface="Cormorant Garamond "/>
              </a:rPr>
              <a:t>Blau (##156082)</a:t>
            </a:r>
          </a:p>
          <a:p>
            <a:endParaRPr lang="de-DE" dirty="0">
              <a:latin typeface="Cormorant Garamond "/>
            </a:endParaRPr>
          </a:p>
          <a:p>
            <a:r>
              <a:rPr lang="de-DE" b="1" dirty="0">
                <a:latin typeface="Cormorant Garamond "/>
              </a:rPr>
              <a:t>Sand/beige (#F8F4F0)</a:t>
            </a:r>
            <a:br>
              <a:rPr lang="de-DE" dirty="0">
                <a:latin typeface="Cormorant Garamond "/>
              </a:rPr>
            </a:br>
            <a:endParaRPr lang="de-DE" dirty="0">
              <a:latin typeface="Cormorant Garamond "/>
            </a:endParaRPr>
          </a:p>
          <a:p>
            <a:endParaRPr lang="de-DE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3C5E4DF-6B30-76CC-2FCD-7982E42C9915}"/>
              </a:ext>
            </a:extLst>
          </p:cNvPr>
          <p:cNvSpPr/>
          <p:nvPr/>
        </p:nvSpPr>
        <p:spPr>
          <a:xfrm>
            <a:off x="5110480" y="2657271"/>
            <a:ext cx="985520" cy="9245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7B50741-22FF-3A25-B90A-551CA5883B42}"/>
              </a:ext>
            </a:extLst>
          </p:cNvPr>
          <p:cNvSpPr/>
          <p:nvPr/>
        </p:nvSpPr>
        <p:spPr>
          <a:xfrm>
            <a:off x="5110480" y="3716768"/>
            <a:ext cx="985520" cy="924560"/>
          </a:xfrm>
          <a:prstGeom prst="ellipse">
            <a:avLst/>
          </a:prstGeom>
          <a:solidFill>
            <a:srgbClr val="F8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1573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4B074-517D-2CC6-C2EA-F68C4A18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85754E"/>
                </a:solidFill>
                <a:latin typeface="Cormorant Garamond "/>
              </a:rPr>
              <a:t>Hintergrundfarbe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3BCBD2-7999-2844-C9B8-1563F07CB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latin typeface="Cormorant Garamond "/>
              </a:rPr>
              <a:t>Hintergrundfarben (für Folien, Webseite etc.)</a:t>
            </a:r>
          </a:p>
          <a:p>
            <a:pPr marL="0" indent="0">
              <a:buNone/>
            </a:pPr>
            <a:endParaRPr lang="de-DE" b="1" dirty="0">
              <a:latin typeface="Cormorant Garamond "/>
            </a:endParaRPr>
          </a:p>
          <a:p>
            <a:pPr marL="0" indent="0">
              <a:buNone/>
            </a:pPr>
            <a:endParaRPr lang="de-DE" dirty="0">
              <a:latin typeface="Cormorant Garamond "/>
            </a:endParaRPr>
          </a:p>
          <a:p>
            <a:r>
              <a:rPr lang="de-DE" b="1" dirty="0">
                <a:latin typeface="Cormorant Garamond "/>
              </a:rPr>
              <a:t>Sand/beige (#F8F4F0)</a:t>
            </a:r>
            <a:br>
              <a:rPr lang="de-DE" dirty="0">
                <a:latin typeface="Cormorant Garamond "/>
              </a:rPr>
            </a:br>
            <a:endParaRPr lang="de-DE" dirty="0">
              <a:latin typeface="Cormorant Garamond "/>
            </a:endParaRP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B877714-3BA1-4C09-C85B-9027D2FF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47"/>
          <a:stretch>
            <a:fillRect/>
          </a:stretch>
        </p:blipFill>
        <p:spPr>
          <a:xfrm>
            <a:off x="9386844" y="553875"/>
            <a:ext cx="1900281" cy="77962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34DEB3E7-0863-6AB0-D670-872B9AAA6281}"/>
              </a:ext>
            </a:extLst>
          </p:cNvPr>
          <p:cNvSpPr/>
          <p:nvPr/>
        </p:nvSpPr>
        <p:spPr>
          <a:xfrm>
            <a:off x="4947194" y="3161597"/>
            <a:ext cx="985520" cy="924560"/>
          </a:xfrm>
          <a:prstGeom prst="ellipse">
            <a:avLst/>
          </a:prstGeom>
          <a:solidFill>
            <a:srgbClr val="F8F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9953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9A6BD-60DC-C9CB-0F55-DAFEE804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85754E"/>
                </a:solidFill>
                <a:latin typeface="Cormorant Garamond "/>
              </a:rPr>
              <a:t>Neutralfarben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66BDD8-DF33-8EB6-6482-FC03B72F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4840" cy="4351338"/>
          </a:xfrm>
        </p:spPr>
        <p:txBody>
          <a:bodyPr/>
          <a:lstStyle/>
          <a:p>
            <a:pPr marL="0" indent="0">
              <a:buNone/>
            </a:pPr>
            <a:r>
              <a:rPr lang="de-DE" b="1" dirty="0">
                <a:latin typeface="Cormorant Garamond "/>
              </a:rPr>
              <a:t>Neutralfarben</a:t>
            </a:r>
          </a:p>
          <a:p>
            <a:r>
              <a:rPr lang="de-DE" b="1" dirty="0">
                <a:latin typeface="Cormorant Garamond "/>
              </a:rPr>
              <a:t>Dunkelgrau (#333333)</a:t>
            </a:r>
            <a:r>
              <a:rPr lang="de-DE" dirty="0">
                <a:latin typeface="Cormorant Garamond "/>
              </a:rPr>
              <a:t> – für Text, Kontrastreich und lesbar.</a:t>
            </a:r>
          </a:p>
          <a:p>
            <a:r>
              <a:rPr lang="de-DE" b="1" dirty="0">
                <a:latin typeface="Cormorant Garamond "/>
              </a:rPr>
              <a:t>Hellgrau (#e6e6e6)</a:t>
            </a:r>
            <a:r>
              <a:rPr lang="de-DE" dirty="0">
                <a:latin typeface="Cormorant Garamond "/>
              </a:rPr>
              <a:t> – für feine Linien, Abgrenzungen ohne Härte.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BD8691-ADB2-23F2-B17C-F155AE3EF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47"/>
          <a:stretch>
            <a:fillRect/>
          </a:stretch>
        </p:blipFill>
        <p:spPr>
          <a:xfrm>
            <a:off x="9386844" y="553875"/>
            <a:ext cx="1900281" cy="779625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3B1F4793-232B-BF90-5D51-8D3844774474}"/>
              </a:ext>
            </a:extLst>
          </p:cNvPr>
          <p:cNvSpPr/>
          <p:nvPr/>
        </p:nvSpPr>
        <p:spPr>
          <a:xfrm>
            <a:off x="7396480" y="2153195"/>
            <a:ext cx="985520" cy="92456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F8F0F3D-B7EB-5C63-53D3-E9F9904814A1}"/>
              </a:ext>
            </a:extLst>
          </p:cNvPr>
          <p:cNvSpPr/>
          <p:nvPr/>
        </p:nvSpPr>
        <p:spPr>
          <a:xfrm>
            <a:off x="7396480" y="3251200"/>
            <a:ext cx="985520" cy="92456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92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612A-E2F6-1325-55D5-00B9246B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A2C0D78-E838-CF49-93CC-ACFC49623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12192000" cy="5881524"/>
          </a:xfrm>
          <a:solidFill>
            <a:srgbClr val="F8F4F0"/>
          </a:solidFill>
        </p:spPr>
        <p:txBody>
          <a:bodyPr/>
          <a:lstStyle/>
          <a:p>
            <a:pPr marL="0" indent="0">
              <a:buNone/>
            </a:pPr>
            <a:endParaRPr lang="de-DE" dirty="0">
              <a:solidFill>
                <a:srgbClr val="333333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333333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333333"/>
              </a:solidFill>
            </a:endParaRPr>
          </a:p>
          <a:p>
            <a:pPr marL="533400" indent="0">
              <a:buNone/>
            </a:pPr>
            <a:r>
              <a:rPr lang="de-DE" dirty="0">
                <a:solidFill>
                  <a:srgbClr val="333333"/>
                </a:solidFill>
                <a:latin typeface="Cormorant Garamond "/>
              </a:rPr>
              <a:t>Das ist ein Fließtext zum Farbtest…..</a:t>
            </a:r>
            <a:br>
              <a:rPr lang="de-DE" dirty="0">
                <a:solidFill>
                  <a:srgbClr val="333333"/>
                </a:solidFill>
                <a:latin typeface="Cormorant Garamond "/>
              </a:rPr>
            </a:br>
            <a:r>
              <a:rPr lang="de-DE" dirty="0">
                <a:solidFill>
                  <a:srgbClr val="333333"/>
                </a:solidFill>
                <a:latin typeface="Cormorant Garamond "/>
              </a:rPr>
              <a:t>Das ist ein Fließtext zum Farbtest…..</a:t>
            </a:r>
            <a:br>
              <a:rPr lang="de-DE" dirty="0">
                <a:solidFill>
                  <a:srgbClr val="333333"/>
                </a:solidFill>
                <a:latin typeface="Cormorant Garamond "/>
              </a:rPr>
            </a:br>
            <a:r>
              <a:rPr lang="de-DE" dirty="0">
                <a:solidFill>
                  <a:srgbClr val="333333"/>
                </a:solidFill>
                <a:latin typeface="Cormorant Garamond "/>
              </a:rPr>
              <a:t>Das ist ein Fließtext zum Farbtest…..</a:t>
            </a:r>
            <a:br>
              <a:rPr lang="de-DE" dirty="0">
                <a:solidFill>
                  <a:srgbClr val="333333"/>
                </a:solidFill>
                <a:latin typeface="Cormorant Garamond "/>
              </a:rPr>
            </a:br>
            <a:r>
              <a:rPr lang="de-DE" dirty="0">
                <a:solidFill>
                  <a:srgbClr val="333333"/>
                </a:solidFill>
                <a:latin typeface="Cormorant Garamond "/>
              </a:rPr>
              <a:t>Das ist ein Fließtext zum Farbtest…..</a:t>
            </a:r>
            <a:endParaRPr lang="de-DE" dirty="0">
              <a:solidFill>
                <a:srgbClr val="156082"/>
              </a:solidFill>
              <a:latin typeface="Cormorant Garamond 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F1384E-1CFD-2CAD-1832-19CC81D5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376631"/>
            <a:ext cx="10515600" cy="1325563"/>
          </a:xfrm>
        </p:spPr>
        <p:txBody>
          <a:bodyPr>
            <a:normAutofit/>
          </a:bodyPr>
          <a:lstStyle/>
          <a:p>
            <a:r>
              <a:rPr lang="de-DE" sz="3600" spc="-150" dirty="0">
                <a:solidFill>
                  <a:srgbClr val="8E7146"/>
                </a:solidFill>
                <a:latin typeface="Cormorant Garamond "/>
              </a:rPr>
              <a:t>Schriftfarbe Bärenherz (Schriftart </a:t>
            </a:r>
            <a:r>
              <a:rPr lang="de-DE" sz="3600" spc="-150" dirty="0" err="1">
                <a:solidFill>
                  <a:srgbClr val="8E7146"/>
                </a:solidFill>
                <a:latin typeface="Cormorant Garamond "/>
              </a:rPr>
              <a:t>Cormorant</a:t>
            </a:r>
            <a:r>
              <a:rPr lang="de-DE" sz="3600" spc="-150" dirty="0">
                <a:solidFill>
                  <a:srgbClr val="8E7146"/>
                </a:solidFill>
                <a:latin typeface="Cormorant Garamond "/>
              </a:rPr>
              <a:t> Garamond)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3395D0E-431D-BEB7-4CDD-7FBD52B8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47"/>
          <a:stretch>
            <a:fillRect/>
          </a:stretch>
        </p:blipFill>
        <p:spPr>
          <a:xfrm>
            <a:off x="10067109" y="5881525"/>
            <a:ext cx="1900281" cy="779625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60844E89-AA79-FC2D-1580-D41C376C6DEC}"/>
              </a:ext>
            </a:extLst>
          </p:cNvPr>
          <p:cNvSpPr/>
          <p:nvPr/>
        </p:nvSpPr>
        <p:spPr>
          <a:xfrm>
            <a:off x="5489168" y="3635293"/>
            <a:ext cx="3760258" cy="17573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Aktionsfarbe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5B6E394-6E5E-02D1-6B67-DD625E449FB9}"/>
              </a:ext>
            </a:extLst>
          </p:cNvPr>
          <p:cNvSpPr/>
          <p:nvPr/>
        </p:nvSpPr>
        <p:spPr>
          <a:xfrm>
            <a:off x="7586133" y="1879437"/>
            <a:ext cx="2480976" cy="2049095"/>
          </a:xfrm>
          <a:prstGeom prst="ellipse">
            <a:avLst/>
          </a:prstGeom>
          <a:solidFill>
            <a:srgbClr val="EB4F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Akzentfarbe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D357CDC-52F3-1A27-7EFE-254311217C06}"/>
              </a:ext>
            </a:extLst>
          </p:cNvPr>
          <p:cNvSpPr/>
          <p:nvPr/>
        </p:nvSpPr>
        <p:spPr>
          <a:xfrm>
            <a:off x="8842299" y="3589414"/>
            <a:ext cx="2616275" cy="924560"/>
          </a:xfrm>
          <a:prstGeom prst="ellipse">
            <a:avLst/>
          </a:prstGeom>
          <a:solidFill>
            <a:srgbClr val="8D6F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Schriftfarbe Überschrift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65C9D26-AC67-FBD9-8A27-2A5816E2B291}"/>
              </a:ext>
            </a:extLst>
          </p:cNvPr>
          <p:cNvSpPr/>
          <p:nvPr/>
        </p:nvSpPr>
        <p:spPr>
          <a:xfrm>
            <a:off x="8417780" y="4395629"/>
            <a:ext cx="2480976" cy="92456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Schriftfarbe NUR für Fließtext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73B6178-B27C-AE46-4704-B9E793302987}"/>
              </a:ext>
            </a:extLst>
          </p:cNvPr>
          <p:cNvSpPr/>
          <p:nvPr/>
        </p:nvSpPr>
        <p:spPr>
          <a:xfrm>
            <a:off x="751114" y="3928532"/>
            <a:ext cx="3346589" cy="1325563"/>
          </a:xfrm>
          <a:prstGeom prst="ellipse">
            <a:avLst/>
          </a:prstGeom>
          <a:solidFill>
            <a:srgbClr val="F8F4F0"/>
          </a:solidFill>
          <a:ln>
            <a:solidFill>
              <a:srgbClr val="8575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333333"/>
                </a:solidFill>
              </a:rPr>
              <a:t>Fläche in Sand/beige</a:t>
            </a:r>
          </a:p>
        </p:txBody>
      </p:sp>
    </p:spTree>
    <p:extLst>
      <p:ext uri="{BB962C8B-B14F-4D97-AF65-F5344CB8AC3E}">
        <p14:creationId xmlns:p14="http://schemas.microsoft.com/office/powerpoint/2010/main" val="2139065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56BE0-06D7-61D2-2C6A-479D26C7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7">
            <a:extLst>
              <a:ext uri="{FF2B5EF4-FFF2-40B4-BE49-F238E27FC236}">
                <a16:creationId xmlns:a16="http://schemas.microsoft.com/office/drawing/2014/main" id="{2CDE1232-7954-24FC-3B46-6BFCFF749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12192000" cy="5881524"/>
          </a:xfrm>
          <a:solidFill>
            <a:srgbClr val="F8F4F0"/>
          </a:solidFill>
        </p:spPr>
        <p:txBody>
          <a:bodyPr/>
          <a:lstStyle/>
          <a:p>
            <a:pPr marL="0" indent="0">
              <a:buNone/>
            </a:pPr>
            <a:endParaRPr lang="de-DE" dirty="0">
              <a:solidFill>
                <a:srgbClr val="333333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333333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333333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604805-AD71-D2EC-3658-F5019799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376631"/>
            <a:ext cx="10515600" cy="1325563"/>
          </a:xfrm>
        </p:spPr>
        <p:txBody>
          <a:bodyPr>
            <a:normAutofit/>
          </a:bodyPr>
          <a:lstStyle/>
          <a:p>
            <a:r>
              <a:rPr lang="de-DE" sz="3600" spc="-150" dirty="0">
                <a:solidFill>
                  <a:srgbClr val="8E7146"/>
                </a:solidFill>
                <a:latin typeface="Cormorant Garamond "/>
              </a:rPr>
              <a:t>Bärenherz-Logo mit Sand/beige im Hintergrund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FA3CD60-45F5-3E53-D4F7-C68C9C156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47"/>
          <a:stretch>
            <a:fillRect/>
          </a:stretch>
        </p:blipFill>
        <p:spPr>
          <a:xfrm>
            <a:off x="10067109" y="5881525"/>
            <a:ext cx="1900281" cy="77962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7839A080-9981-198F-31F5-7AB01F72B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06BBA-4C10-BAFB-77D4-C14DDBD3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81B31-1DC1-AC78-DE04-8865CED25A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48CA14-5F24-84B0-AEF7-BEAF89019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90063B6-3C95-4D7A-68BE-0BB79892C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1" y="1061569"/>
            <a:ext cx="9405258" cy="431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1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28EC73384E14048A0DE2A045B670252" ma:contentTypeVersion="16" ma:contentTypeDescription="Ein neues Dokument erstellen." ma:contentTypeScope="" ma:versionID="56bbb15199ba78bc668cd8b610dfa5d2">
  <xsd:schema xmlns:xsd="http://www.w3.org/2001/XMLSchema" xmlns:xs="http://www.w3.org/2001/XMLSchema" xmlns:p="http://schemas.microsoft.com/office/2006/metadata/properties" xmlns:ns2="5818751c-2ebf-4c4b-89ab-8c7ca1803ea0" xmlns:ns3="558bf351-d3a4-438e-b020-715040448822" targetNamespace="http://schemas.microsoft.com/office/2006/metadata/properties" ma:root="true" ma:fieldsID="888dfa76694fd33ac353a8d0c413487c" ns2:_="" ns3:_="">
    <xsd:import namespace="5818751c-2ebf-4c4b-89ab-8c7ca1803ea0"/>
    <xsd:import namespace="558bf351-d3a4-438e-b020-715040448822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lcf76f155ced4ddcb4097134ff3c332f0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18751c-2ebf-4c4b-89ab-8c7ca1803ea0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lcf76f155ced4ddcb4097134ff3c332f0" ma:index="11" nillable="true" ma:displayName="Bildmarkierungen_0" ma:hidden="true" ma:internalName="lcf76f155ced4ddcb4097134ff3c332f0" ma:readOnly="false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0cded943-9193-41a8-aa08-73e073e66b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8bf351-d3a4-438e-b020-715040448822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bc906468-3c43-4b39-b444-e991d66fdaa2}" ma:internalName="TaxCatchAll" ma:showField="CatchAllData" ma:web="558bf351-d3a4-438e-b020-7150404488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5818751c-2ebf-4c4b-89ab-8c7ca1803ea0" xsi:nil="true"/>
    <MigrationWizIdPermissions xmlns="5818751c-2ebf-4c4b-89ab-8c7ca1803ea0" xsi:nil="true"/>
    <lcf76f155ced4ddcb4097134ff3c332f xmlns="5818751c-2ebf-4c4b-89ab-8c7ca1803ea0">
      <Terms xmlns="http://schemas.microsoft.com/office/infopath/2007/PartnerControls"/>
    </lcf76f155ced4ddcb4097134ff3c332f>
    <MigrationWizIdVersion xmlns="5818751c-2ebf-4c4b-89ab-8c7ca1803ea0" xsi:nil="true"/>
    <lcf76f155ced4ddcb4097134ff3c332f0 xmlns="5818751c-2ebf-4c4b-89ab-8c7ca1803ea0" xsi:nil="true"/>
    <TaxCatchAll xmlns="558bf351-d3a4-438e-b020-715040448822" xsi:nil="true"/>
  </documentManagement>
</p:properties>
</file>

<file path=customXml/itemProps1.xml><?xml version="1.0" encoding="utf-8"?>
<ds:datastoreItem xmlns:ds="http://schemas.openxmlformats.org/officeDocument/2006/customXml" ds:itemID="{A470F2B3-EC8E-4518-AE68-4BDBCF06FF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18751c-2ebf-4c4b-89ab-8c7ca1803ea0"/>
    <ds:schemaRef ds:uri="558bf351-d3a4-438e-b020-7150404488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10FAA4-7751-48D4-B7CC-BD6D61A12D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572E50-19C3-4FAE-BCF8-E546B0CDF2DC}">
  <ds:schemaRefs>
    <ds:schemaRef ds:uri="http://schemas.microsoft.com/office/infopath/2007/PartnerControls"/>
    <ds:schemaRef ds:uri="http://purl.org/dc/elements/1.1/"/>
    <ds:schemaRef ds:uri="http://www.w3.org/XML/1998/namespace"/>
    <ds:schemaRef ds:uri="http://purl.org/dc/terms/"/>
    <ds:schemaRef ds:uri="5818751c-2ebf-4c4b-89ab-8c7ca1803ea0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558bf351-d3a4-438e-b020-715040448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Breitbild</PresentationFormat>
  <Paragraphs>39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Cormorant Garamond </vt:lpstr>
      <vt:lpstr>Office</vt:lpstr>
      <vt:lpstr>PowerPoint-Präsentation</vt:lpstr>
      <vt:lpstr>Schriftarten</vt:lpstr>
      <vt:lpstr>Basisfarben</vt:lpstr>
      <vt:lpstr>Akzentfarben</vt:lpstr>
      <vt:lpstr>Hintergrundfarbe</vt:lpstr>
      <vt:lpstr>Neutralfarben</vt:lpstr>
      <vt:lpstr>Schriftfarbe Bärenherz (Schriftart Cormorant Garamond)</vt:lpstr>
      <vt:lpstr>Bärenherz-Logo mit Sand/beige im Hintergrund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Christiane Räbiger</dc:creator>
  <cp:lastModifiedBy>Christiane Räbiger</cp:lastModifiedBy>
  <cp:revision>123</cp:revision>
  <dcterms:created xsi:type="dcterms:W3CDTF">2025-06-16T08:23:32Z</dcterms:created>
  <dcterms:modified xsi:type="dcterms:W3CDTF">2025-11-12T18:17:27Z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0x010100D28EC73384E14048A0DE2A045B670252</vt:lpwstr>
  </property>
  <property fmtid="{D5CDD505-2E9C-101B-9397-08002B2CF9AE}" pid="3" name="MediaServiceImageTags">
    <vt:lpwstr/>
  </property>
</Properties>
</file>